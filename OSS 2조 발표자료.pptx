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04DD3B-7FC9-4DE6-A9D6-5E81F6CACFD6}">
  <a:tblStyle styleId="{8C04DD3B-7FC9-4DE6-A9D6-5E81F6CACF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8a831b58_2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8a831b58_2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8a831b5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8a831b5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8a831b58_2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8a831b58_2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어시스턴트 소개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</a:t>
            </a:r>
            <a:r>
              <a:rPr lang="ko">
                <a:solidFill>
                  <a:schemeClr val="dk1"/>
                </a:solidFill>
              </a:rPr>
              <a:t>조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dk1"/>
                </a:solidFill>
              </a:rPr>
              <a:t>박지우 이서진 윤연경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8768"/>
              <a:buFont typeface="Arial"/>
              <a:buNone/>
            </a:pPr>
            <a:r>
              <a:rPr b="1" lang="ko" sz="2256">
                <a:solidFill>
                  <a:srgbClr val="1F2328"/>
                </a:solidFill>
                <a:highlight>
                  <a:srgbClr val="FFFFFF"/>
                </a:highlight>
              </a:rPr>
              <a:t>      </a:t>
            </a:r>
            <a:r>
              <a:rPr b="1" lang="ko" sz="2811">
                <a:solidFill>
                  <a:srgbClr val="1F2328"/>
                </a:solidFill>
                <a:highlight>
                  <a:srgbClr val="FFFFFF"/>
                </a:highlight>
              </a:rPr>
              <a:t>AI 어시스턴트란 무엇인가?</a:t>
            </a:r>
            <a:endParaRPr b="1" sz="2811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Char char="●"/>
            </a:pPr>
            <a:r>
              <a:rPr lang="ko">
                <a:solidFill>
                  <a:srgbClr val="1F2328"/>
                </a:solidFill>
                <a:highlight>
                  <a:srgbClr val="FFFFFF"/>
                </a:highlight>
              </a:rPr>
              <a:t>  AI 어시스턴트는 사용자의 언어를 이해하고 의도를 파악하여, 질문에 답변하거나 문서를 요약하고 코드를 작성하는 등 다양한 작업을 돕는 지능형 소프트웨어입니다. </a:t>
            </a:r>
            <a:endParaRPr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800"/>
              <a:buChar char="●"/>
            </a:pPr>
            <a:r>
              <a:rPr lang="ko">
                <a:solidFill>
                  <a:srgbClr val="1F2328"/>
                </a:solidFill>
                <a:highlight>
                  <a:srgbClr val="FFFFFF"/>
                </a:highlight>
              </a:rPr>
              <a:t>대규모 언어 모델(LLM)과 자연어 처리(NLP) 기술을 기반으로 작동하며, 복잡한 명령을 수행하고 사람과 대화하듯 자연스러운 상호작용이 가능한 것이 특징입니다.</a:t>
            </a:r>
            <a:endParaRPr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800"/>
              <a:buChar char="●"/>
            </a:pPr>
            <a:r>
              <a:rPr lang="ko">
                <a:solidFill>
                  <a:srgbClr val="1F2328"/>
                </a:solidFill>
                <a:highlight>
                  <a:srgbClr val="FFFFFF"/>
                </a:highlight>
              </a:rPr>
              <a:t>현재 시장을 이끌고 있는 대표적인 AI 어시스턴트로는 ChatGPT, Gemini, Grok이 있습니다.</a:t>
            </a:r>
            <a:endParaRPr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/>
        </p:nvGraphicFramePr>
        <p:xfrm>
          <a:off x="952500" y="99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{8C04DD3B-7FC9-4DE6-A9D6-5E81F6CACFD6}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ChatGPT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Gemini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Grok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1035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b="1" lang="ko" sz="1500">
                          <a:solidFill>
                            <a:schemeClr val="dk1"/>
                          </a:solidFill>
                        </a:rPr>
                        <a:t>주요 강점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압도적인 범용성과 직관적인 사용성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다양한 구글생태계 연동 및 강력한 멀티모달  창작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X기반 실시간 정보와 느슨한 검열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 anchor="ctr"/>
                </a:tc>
              </a:tr>
              <a:tr h="854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500">
                          <a:solidFill>
                            <a:schemeClr val="dk1"/>
                          </a:solidFill>
                        </a:rPr>
                        <a:t>주요 단점 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동조 편향 및 데이터 보안 우려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지나게 엄격한 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안전 정책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폐쇄적인 생태계 및 업무용으로 부적합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049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1500">
                          <a:solidFill>
                            <a:schemeClr val="dk1"/>
                          </a:solidFill>
                        </a:rPr>
                        <a:t>추천 대상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코딩, 문서 작업 등 전천후 범용 도구가 필요한 사람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유튜브/구글 문서 활용 및 멀티미디어 창작이 필요한 사람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solidFill>
                            <a:schemeClr val="dk1"/>
                          </a:solidFill>
                        </a:rPr>
                        <a:t>검열 없는 실시간 트랜드 파악이 필요한 사람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" name="Google Shape;67;p15"/>
          <p:cNvSpPr txBox="1"/>
          <p:nvPr/>
        </p:nvSpPr>
        <p:spPr>
          <a:xfrm>
            <a:off x="1012025" y="425650"/>
            <a:ext cx="514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</a:rPr>
              <a:t> </a:t>
            </a:r>
            <a:r>
              <a:rPr b="1" lang="ko" sz="2500">
                <a:solidFill>
                  <a:schemeClr val="dk1"/>
                </a:solidFill>
              </a:rPr>
              <a:t>AI어시스턴트 비교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</a:t>
            </a:r>
            <a:r>
              <a:rPr b="1" lang="ko"/>
              <a:t>협업과정 및 느낀점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04850" y="3283175"/>
            <a:ext cx="7884900" cy="14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rgbClr val="0A0A0A"/>
                </a:solidFill>
                <a:highlight>
                  <a:schemeClr val="lt1"/>
                </a:highlight>
              </a:rPr>
              <a:t> 기존의 단순 분업(자료조사, PPT 등)에서 벗어나 GitHub를 통해 하나의 결과물을 실시간으로 완성하는 </a:t>
            </a:r>
            <a:r>
              <a:rPr b="1" lang="ko" sz="1200">
                <a:solidFill>
                  <a:srgbClr val="0A0A0A"/>
                </a:solidFill>
                <a:highlight>
                  <a:schemeClr val="lt1"/>
                </a:highlight>
              </a:rPr>
              <a:t>유기적이고 효율적인 협업</a:t>
            </a:r>
            <a:r>
              <a:rPr lang="ko" sz="1200">
                <a:solidFill>
                  <a:srgbClr val="0A0A0A"/>
                </a:solidFill>
                <a:highlight>
                  <a:schemeClr val="lt1"/>
                </a:highlight>
              </a:rPr>
              <a:t>을 경험하였고, 브런치를 활용한 </a:t>
            </a:r>
            <a:r>
              <a:rPr b="1" lang="ko" sz="1200">
                <a:solidFill>
                  <a:srgbClr val="0A0A0A"/>
                </a:solidFill>
                <a:highlight>
                  <a:schemeClr val="lt1"/>
                </a:highlight>
              </a:rPr>
              <a:t>충돌 방지</a:t>
            </a:r>
            <a:r>
              <a:rPr lang="ko" sz="1200">
                <a:solidFill>
                  <a:srgbClr val="0A0A0A"/>
                </a:solidFill>
                <a:highlight>
                  <a:schemeClr val="lt1"/>
                </a:highlight>
              </a:rPr>
              <a:t>와 기록 관리의 편리함을 체감했으며, 생소했던 마크다운 문법과 협업 도구에 적응할 수 있는 좋은 기회였습니다. 또한 일상적으로 사용하고 있던 ChatGPT를 </a:t>
            </a:r>
            <a:r>
              <a:rPr b="1" lang="ko" sz="1200">
                <a:solidFill>
                  <a:srgbClr val="0A0A0A"/>
                </a:solidFill>
                <a:highlight>
                  <a:schemeClr val="lt1"/>
                </a:highlight>
              </a:rPr>
              <a:t>AI 어시스턴트</a:t>
            </a:r>
            <a:r>
              <a:rPr lang="ko" sz="1200">
                <a:solidFill>
                  <a:srgbClr val="0A0A0A"/>
                </a:solidFill>
                <a:highlight>
                  <a:schemeClr val="lt1"/>
                </a:highlight>
              </a:rPr>
              <a:t> 관점에서 깊이 있게 이해하고 활용할 수 있게 된 것 같습니다.</a:t>
            </a:r>
            <a:endParaRPr sz="1200">
              <a:highlight>
                <a:schemeClr val="lt1"/>
              </a:highlight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0" y="1306600"/>
            <a:ext cx="976150" cy="16876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04850" y="1181625"/>
            <a:ext cx="4643400" cy="1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  	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chemeClr val="dk1"/>
                </a:solidFill>
              </a:rPr>
              <a:t> 조원 3명이 함께 README파일을 간단히 만든 후 각자 각 AI 어시스턴스를 조사하여 PR 하는 방식으로 협업을 진행하였습니다.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3700" y="1306600"/>
            <a:ext cx="2176025" cy="16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